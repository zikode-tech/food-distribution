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B268B1-AD32-4686-A0FB-7435225A9888}" v="4" dt="2026-03-06T21:15:50.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461E07-E717-492E-8256-F3453C9BD544}" type="datetimeFigureOut">
              <a:rPr lang="en-ZA" smtClean="0"/>
              <a:t>2026/03/06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3532335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61E07-E717-492E-8256-F3453C9BD544}" type="datetimeFigureOut">
              <a:rPr lang="en-ZA" smtClean="0"/>
              <a:t>2026/03/06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21644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461E07-E717-492E-8256-F3453C9BD544}" type="datetimeFigureOut">
              <a:rPr lang="en-ZA" smtClean="0"/>
              <a:t>2026/03/06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1525416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461E07-E717-492E-8256-F3453C9BD544}" type="datetimeFigureOut">
              <a:rPr lang="en-ZA" smtClean="0"/>
              <a:t>2026/03/06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1689688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461E07-E717-492E-8256-F3453C9BD544}" type="datetimeFigureOut">
              <a:rPr lang="en-ZA" smtClean="0"/>
              <a:t>2026/03/06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3268589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461E07-E717-492E-8256-F3453C9BD544}" type="datetimeFigureOut">
              <a:rPr lang="en-ZA" smtClean="0"/>
              <a:t>2026/03/06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673080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04461E07-E717-492E-8256-F3453C9BD544}" type="datetimeFigureOut">
              <a:rPr lang="en-ZA" smtClean="0"/>
              <a:t>2026/03/06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4207389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461E07-E717-492E-8256-F3453C9BD544}" type="datetimeFigureOut">
              <a:rPr lang="en-ZA" smtClean="0"/>
              <a:t>2026/03/06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1863733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461E07-E717-492E-8256-F3453C9BD544}" type="datetimeFigureOut">
              <a:rPr lang="en-ZA" smtClean="0"/>
              <a:t>2026/03/06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2518276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461E07-E717-492E-8256-F3453C9BD544}" type="datetimeFigureOut">
              <a:rPr lang="en-ZA" smtClean="0"/>
              <a:t>2026/03/06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83221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461E07-E717-492E-8256-F3453C9BD544}" type="datetimeFigureOut">
              <a:rPr lang="en-ZA" smtClean="0"/>
              <a:t>2026/03/06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2349035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461E07-E717-492E-8256-F3453C9BD544}" type="datetimeFigureOut">
              <a:rPr lang="en-ZA" smtClean="0"/>
              <a:t>2026/03/06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761ECBB-CA9F-4962-9CE5-8E1FE83C3EDE}" type="slidenum">
              <a:rPr lang="en-ZA" smtClean="0"/>
              <a:t>‹#›</a:t>
            </a:fld>
            <a:endParaRPr lang="en-ZA"/>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16556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461E07-E717-492E-8256-F3453C9BD544}" type="datetimeFigureOut">
              <a:rPr lang="en-ZA" smtClean="0"/>
              <a:t>2026/03/06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3153601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4461E07-E717-492E-8256-F3453C9BD544}" type="datetimeFigureOut">
              <a:rPr lang="en-ZA" smtClean="0"/>
              <a:t>2026/03/06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2501935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4461E07-E717-492E-8256-F3453C9BD544}" type="datetimeFigureOut">
              <a:rPr lang="en-ZA" smtClean="0"/>
              <a:t>2026/03/06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1243856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61E07-E717-492E-8256-F3453C9BD544}" type="datetimeFigureOut">
              <a:rPr lang="en-ZA" smtClean="0"/>
              <a:t>2026/03/06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481157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61E07-E717-492E-8256-F3453C9BD544}" type="datetimeFigureOut">
              <a:rPr lang="en-ZA" smtClean="0"/>
              <a:t>2026/03/06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4280298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61E07-E717-492E-8256-F3453C9BD544}" type="datetimeFigureOut">
              <a:rPr lang="en-ZA" smtClean="0"/>
              <a:t>2026/03/06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761ECBB-CA9F-4962-9CE5-8E1FE83C3EDE}" type="slidenum">
              <a:rPr lang="en-ZA" smtClean="0"/>
              <a:t>‹#›</a:t>
            </a:fld>
            <a:endParaRPr lang="en-ZA"/>
          </a:p>
        </p:txBody>
      </p:sp>
    </p:spTree>
    <p:extLst>
      <p:ext uri="{BB962C8B-B14F-4D97-AF65-F5344CB8AC3E}">
        <p14:creationId xmlns:p14="http://schemas.microsoft.com/office/powerpoint/2010/main" val="3001869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461E07-E717-492E-8256-F3453C9BD544}" type="datetimeFigureOut">
              <a:rPr lang="en-ZA" smtClean="0"/>
              <a:t>2026/03/06</a:t>
            </a:fld>
            <a:endParaRPr lang="en-ZA"/>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ZA"/>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4761ECBB-CA9F-4962-9CE5-8E1FE83C3EDE}" type="slidenum">
              <a:rPr lang="en-ZA" smtClean="0"/>
              <a:t>‹#›</a:t>
            </a:fld>
            <a:endParaRPr lang="en-ZA"/>
          </a:p>
        </p:txBody>
      </p:sp>
    </p:spTree>
    <p:extLst>
      <p:ext uri="{BB962C8B-B14F-4D97-AF65-F5344CB8AC3E}">
        <p14:creationId xmlns:p14="http://schemas.microsoft.com/office/powerpoint/2010/main" val="39821640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8EF27-97BE-4C9B-3387-5E65AB66894C}"/>
              </a:ext>
            </a:extLst>
          </p:cNvPr>
          <p:cNvSpPr>
            <a:spLocks noGrp="1"/>
          </p:cNvSpPr>
          <p:nvPr>
            <p:ph type="ctrTitle"/>
          </p:nvPr>
        </p:nvSpPr>
        <p:spPr/>
        <p:txBody>
          <a:bodyPr>
            <a:normAutofit/>
          </a:bodyPr>
          <a:lstStyle/>
          <a:p>
            <a:r>
              <a:rPr lang="en-US" dirty="0" err="1">
                <a:solidFill>
                  <a:schemeClr val="accent6">
                    <a:lumMod val="75000"/>
                  </a:schemeClr>
                </a:solidFill>
                <a:latin typeface="Garamond" panose="02020404030301010803" pitchFamily="18" charset="0"/>
              </a:rPr>
              <a:t>oPearls</a:t>
            </a:r>
            <a:r>
              <a:rPr lang="en-US" dirty="0">
                <a:solidFill>
                  <a:schemeClr val="accent6">
                    <a:lumMod val="75000"/>
                  </a:schemeClr>
                </a:solidFill>
                <a:latin typeface="Garamond" panose="02020404030301010803" pitchFamily="18" charset="0"/>
              </a:rPr>
              <a:t> Floral and Events </a:t>
            </a:r>
            <a:r>
              <a:rPr lang="en-US" b="1" dirty="0">
                <a:latin typeface="Garamond" panose="02020404030301010803" pitchFamily="18" charset="0"/>
              </a:rPr>
              <a:t>x</a:t>
            </a:r>
            <a:r>
              <a:rPr lang="en-US" dirty="0">
                <a:latin typeface="Garamond" panose="02020404030301010803" pitchFamily="18" charset="0"/>
              </a:rPr>
              <a:t> </a:t>
            </a:r>
            <a:r>
              <a:rPr lang="en-US" dirty="0">
                <a:solidFill>
                  <a:schemeClr val="accent3">
                    <a:lumMod val="75000"/>
                  </a:schemeClr>
                </a:solidFill>
                <a:latin typeface="Garamond" panose="02020404030301010803" pitchFamily="18" charset="0"/>
              </a:rPr>
              <a:t>Cleopatra</a:t>
            </a:r>
            <a:endParaRPr lang="en-ZA" dirty="0">
              <a:solidFill>
                <a:schemeClr val="accent3">
                  <a:lumMod val="75000"/>
                </a:schemeClr>
              </a:solidFill>
              <a:latin typeface="Garamond" panose="02020404030301010803" pitchFamily="18" charset="0"/>
            </a:endParaRPr>
          </a:p>
        </p:txBody>
      </p:sp>
      <p:sp>
        <p:nvSpPr>
          <p:cNvPr id="3" name="Subtitle 2">
            <a:extLst>
              <a:ext uri="{FF2B5EF4-FFF2-40B4-BE49-F238E27FC236}">
                <a16:creationId xmlns:a16="http://schemas.microsoft.com/office/drawing/2014/main" id="{35123A96-DCBE-DEF0-A337-CF7A66849D74}"/>
              </a:ext>
            </a:extLst>
          </p:cNvPr>
          <p:cNvSpPr>
            <a:spLocks noGrp="1"/>
          </p:cNvSpPr>
          <p:nvPr>
            <p:ph type="subTitle" idx="1"/>
          </p:nvPr>
        </p:nvSpPr>
        <p:spPr/>
        <p:txBody>
          <a:bodyPr/>
          <a:lstStyle/>
          <a:p>
            <a:r>
              <a:rPr lang="en-US" i="1" u="sng" dirty="0">
                <a:solidFill>
                  <a:schemeClr val="tx1"/>
                </a:solidFill>
              </a:rPr>
              <a:t>The way forward to more and better</a:t>
            </a:r>
          </a:p>
        </p:txBody>
      </p:sp>
    </p:spTree>
    <p:extLst>
      <p:ext uri="{BB962C8B-B14F-4D97-AF65-F5344CB8AC3E}">
        <p14:creationId xmlns:p14="http://schemas.microsoft.com/office/powerpoint/2010/main" val="643658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CE4089-550C-85DA-D9FB-556166A2055B}"/>
              </a:ext>
            </a:extLst>
          </p:cNvPr>
          <p:cNvSpPr>
            <a:spLocks noGrp="1"/>
          </p:cNvSpPr>
          <p:nvPr>
            <p:ph idx="1"/>
          </p:nvPr>
        </p:nvSpPr>
        <p:spPr>
          <a:xfrm>
            <a:off x="838200" y="294968"/>
            <a:ext cx="10515600" cy="5881995"/>
          </a:xfrm>
        </p:spPr>
        <p:txBody>
          <a:bodyPr/>
          <a:lstStyle/>
          <a:p>
            <a:pPr marL="0" indent="0">
              <a:buNone/>
            </a:pPr>
            <a:r>
              <a:rPr lang="en-US" b="1" u="sng" dirty="0"/>
              <a:t>Focus:</a:t>
            </a:r>
          </a:p>
          <a:p>
            <a:pPr marL="0" indent="0">
              <a:buNone/>
            </a:pPr>
            <a:r>
              <a:rPr lang="en-US" dirty="0"/>
              <a:t>-winning product and strategy</a:t>
            </a:r>
          </a:p>
          <a:p>
            <a:pPr marL="0" indent="0">
              <a:buNone/>
            </a:pPr>
            <a:r>
              <a:rPr lang="en-US" dirty="0"/>
              <a:t>-boosting </a:t>
            </a:r>
            <a:r>
              <a:rPr lang="en-US" dirty="0" err="1"/>
              <a:t>revenure</a:t>
            </a:r>
            <a:endParaRPr lang="en-US" dirty="0"/>
          </a:p>
          <a:p>
            <a:pPr marL="0" indent="0">
              <a:buNone/>
            </a:pPr>
            <a:r>
              <a:rPr lang="en-US" dirty="0"/>
              <a:t>-quality over quantity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5982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830C3-6C1C-1C71-91E1-75A994CAE099}"/>
              </a:ext>
            </a:extLst>
          </p:cNvPr>
          <p:cNvSpPr>
            <a:spLocks noGrp="1"/>
          </p:cNvSpPr>
          <p:nvPr>
            <p:ph idx="1"/>
          </p:nvPr>
        </p:nvSpPr>
        <p:spPr>
          <a:xfrm>
            <a:off x="838200" y="457200"/>
            <a:ext cx="10515600" cy="5719763"/>
          </a:xfrm>
        </p:spPr>
        <p:txBody>
          <a:bodyPr/>
          <a:lstStyle/>
          <a:p>
            <a:pPr marL="0" indent="0">
              <a:buNone/>
            </a:pPr>
            <a:r>
              <a:rPr lang="en-US" b="1" dirty="0"/>
              <a:t>Idea 1 </a:t>
            </a:r>
            <a:r>
              <a:rPr lang="en-US" b="1" i="1" dirty="0"/>
              <a:t>(Best recommendation)</a:t>
            </a:r>
            <a:r>
              <a:rPr lang="en-US" b="1" dirty="0"/>
              <a:t>:</a:t>
            </a:r>
          </a:p>
          <a:p>
            <a:pPr marL="0" indent="0">
              <a:buNone/>
            </a:pPr>
            <a:r>
              <a:rPr lang="en-US" dirty="0"/>
              <a:t>-apply fragrance scent onto the flowers resulting into a sensational scent of the flowers:</a:t>
            </a:r>
          </a:p>
          <a:p>
            <a:pPr marL="0" indent="0">
              <a:buNone/>
            </a:pPr>
            <a:r>
              <a:rPr lang="en-US" dirty="0">
                <a:latin typeface="Garamond" panose="02020404030301010803" pitchFamily="18" charset="0"/>
              </a:rPr>
              <a:t>*could either apply one fragrance onto the same flower for its uniqueness and to differentiate it from the rest or customer chooses the flower they would like and therefore ask them if they would like a hint of the scent onto their flower</a:t>
            </a:r>
          </a:p>
          <a:p>
            <a:pPr marL="0" indent="0">
              <a:buNone/>
            </a:pPr>
            <a:r>
              <a:rPr lang="en-US" dirty="0">
                <a:latin typeface="Garamond" panose="02020404030301010803" pitchFamily="18" charset="0"/>
              </a:rPr>
              <a:t>*this would result to the change of </a:t>
            </a:r>
            <a:r>
              <a:rPr lang="en-US" dirty="0" err="1">
                <a:latin typeface="Garamond" panose="02020404030301010803" pitchFamily="18" charset="0"/>
              </a:rPr>
              <a:t>oPearls</a:t>
            </a:r>
            <a:r>
              <a:rPr lang="en-US" dirty="0">
                <a:latin typeface="Garamond" panose="02020404030301010803" pitchFamily="18" charset="0"/>
              </a:rPr>
              <a:t> Floral &amp; Events game and how you do things</a:t>
            </a:r>
            <a:endParaRPr lang="en-ZA" dirty="0">
              <a:latin typeface="Garamond" panose="02020404030301010803" pitchFamily="18" charset="0"/>
            </a:endParaRPr>
          </a:p>
        </p:txBody>
      </p:sp>
    </p:spTree>
    <p:extLst>
      <p:ext uri="{BB962C8B-B14F-4D97-AF65-F5344CB8AC3E}">
        <p14:creationId xmlns:p14="http://schemas.microsoft.com/office/powerpoint/2010/main" val="3716184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E5885-901C-8DEC-DF18-39052DD55081}"/>
              </a:ext>
            </a:extLst>
          </p:cNvPr>
          <p:cNvSpPr>
            <a:spLocks noGrp="1"/>
          </p:cNvSpPr>
          <p:nvPr>
            <p:ph idx="1"/>
          </p:nvPr>
        </p:nvSpPr>
        <p:spPr>
          <a:xfrm>
            <a:off x="838200" y="567559"/>
            <a:ext cx="10515600" cy="5609404"/>
          </a:xfrm>
        </p:spPr>
        <p:txBody>
          <a:bodyPr/>
          <a:lstStyle/>
          <a:p>
            <a:pPr marL="0" indent="0">
              <a:buNone/>
            </a:pPr>
            <a:r>
              <a:rPr lang="en-US" b="1" dirty="0"/>
              <a:t>Idea 2:</a:t>
            </a:r>
          </a:p>
          <a:p>
            <a:pPr marL="0" indent="0">
              <a:buNone/>
            </a:pPr>
            <a:r>
              <a:rPr lang="en-US" i="1" dirty="0"/>
              <a:t>-</a:t>
            </a:r>
            <a:r>
              <a:rPr lang="en-US" i="1" dirty="0" err="1"/>
              <a:t>oPearl</a:t>
            </a:r>
            <a:r>
              <a:rPr lang="en-US" i="1" dirty="0"/>
              <a:t> Floral &amp; Events x </a:t>
            </a:r>
            <a:r>
              <a:rPr lang="en-US" i="1" dirty="0" err="1"/>
              <a:t>CleaPatra</a:t>
            </a:r>
            <a:r>
              <a:rPr lang="en-US" i="1" dirty="0"/>
              <a:t>:</a:t>
            </a:r>
          </a:p>
          <a:p>
            <a:pPr marL="0" indent="0">
              <a:buNone/>
            </a:pPr>
            <a:r>
              <a:rPr lang="en-US" dirty="0">
                <a:latin typeface="Garamond" panose="02020404030301010803" pitchFamily="18" charset="0"/>
              </a:rPr>
              <a:t>*involving fragrances into the business using </a:t>
            </a:r>
            <a:r>
              <a:rPr lang="en-US" dirty="0" err="1">
                <a:latin typeface="Garamond" panose="02020404030301010803" pitchFamily="18" charset="0"/>
              </a:rPr>
              <a:t>CleaPatra</a:t>
            </a:r>
            <a:r>
              <a:rPr lang="en-US" dirty="0">
                <a:latin typeface="Garamond" panose="02020404030301010803" pitchFamily="18" charset="0"/>
              </a:rPr>
              <a:t> as the supplier</a:t>
            </a:r>
          </a:p>
          <a:p>
            <a:pPr marL="0" indent="0">
              <a:buNone/>
            </a:pPr>
            <a:r>
              <a:rPr lang="en-US" dirty="0">
                <a:latin typeface="Garamond" panose="02020404030301010803" pitchFamily="18" charset="0"/>
              </a:rPr>
              <a:t>*can be able to involve fragrances with the flowers but as a package using people birthday’s as a way of drawing them into having to feel special, </a:t>
            </a:r>
            <a:r>
              <a:rPr lang="en-US" dirty="0" err="1">
                <a:latin typeface="Garamond" panose="02020404030301010803" pitchFamily="18" charset="0"/>
              </a:rPr>
              <a:t>unigue</a:t>
            </a:r>
            <a:r>
              <a:rPr lang="en-US" dirty="0">
                <a:latin typeface="Garamond" panose="02020404030301010803" pitchFamily="18" charset="0"/>
              </a:rPr>
              <a:t> and valued.</a:t>
            </a:r>
            <a:endParaRPr lang="en-ZA" dirty="0">
              <a:latin typeface="Garamond" panose="02020404030301010803" pitchFamily="18" charset="0"/>
            </a:endParaRPr>
          </a:p>
          <a:p>
            <a:pPr marL="0" indent="0">
              <a:buNone/>
            </a:pPr>
            <a:endParaRPr lang="en-ZA" dirty="0"/>
          </a:p>
        </p:txBody>
      </p:sp>
    </p:spTree>
    <p:extLst>
      <p:ext uri="{BB962C8B-B14F-4D97-AF65-F5344CB8AC3E}">
        <p14:creationId xmlns:p14="http://schemas.microsoft.com/office/powerpoint/2010/main" val="1590033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708D0-3B88-9298-D658-70538457CD76}"/>
              </a:ext>
            </a:extLst>
          </p:cNvPr>
          <p:cNvSpPr>
            <a:spLocks noGrp="1"/>
          </p:cNvSpPr>
          <p:nvPr>
            <p:ph type="title"/>
          </p:nvPr>
        </p:nvSpPr>
        <p:spPr>
          <a:xfrm>
            <a:off x="1640156" y="419393"/>
            <a:ext cx="8911687" cy="1280890"/>
          </a:xfrm>
        </p:spPr>
        <p:txBody>
          <a:bodyPr/>
          <a:lstStyle/>
          <a:p>
            <a:r>
              <a:rPr lang="en-US" b="1" u="sng" dirty="0"/>
              <a:t>Applied &amp; Not applied</a:t>
            </a:r>
            <a:endParaRPr lang="en-ZA" b="1" u="sng" dirty="0"/>
          </a:p>
        </p:txBody>
      </p:sp>
      <p:sp>
        <p:nvSpPr>
          <p:cNvPr id="3" name="Content Placeholder 2">
            <a:extLst>
              <a:ext uri="{FF2B5EF4-FFF2-40B4-BE49-F238E27FC236}">
                <a16:creationId xmlns:a16="http://schemas.microsoft.com/office/drawing/2014/main" id="{B74066C7-07E9-BCCE-E5DE-868A469FD5A7}"/>
              </a:ext>
            </a:extLst>
          </p:cNvPr>
          <p:cNvSpPr>
            <a:spLocks noGrp="1"/>
          </p:cNvSpPr>
          <p:nvPr>
            <p:ph idx="1"/>
          </p:nvPr>
        </p:nvSpPr>
        <p:spPr>
          <a:xfrm>
            <a:off x="687388" y="1905000"/>
            <a:ext cx="8915400" cy="3777622"/>
          </a:xfrm>
        </p:spPr>
        <p:txBody>
          <a:bodyPr/>
          <a:lstStyle/>
          <a:p>
            <a:pPr marL="0" indent="0">
              <a:buNone/>
            </a:pPr>
            <a:r>
              <a:rPr lang="en-US" b="1" dirty="0"/>
              <a:t>Applied:</a:t>
            </a:r>
          </a:p>
          <a:p>
            <a:pPr marL="0" indent="0">
              <a:buNone/>
            </a:pPr>
            <a:r>
              <a:rPr lang="en-US" dirty="0"/>
              <a:t>-70-80% win rate for the winning products</a:t>
            </a:r>
          </a:p>
          <a:p>
            <a:pPr marL="0" indent="0">
              <a:buNone/>
            </a:pPr>
            <a:r>
              <a:rPr lang="en-US" dirty="0"/>
              <a:t>-less expenditure on having to keep supplying for more fragrances for the flowers</a:t>
            </a:r>
          </a:p>
          <a:p>
            <a:pPr marL="0" indent="0">
              <a:buNone/>
            </a:pPr>
            <a:r>
              <a:rPr lang="en-US" dirty="0"/>
              <a:t>-increase on product population and possible revive on non-winning flowers</a:t>
            </a:r>
          </a:p>
          <a:p>
            <a:pPr marL="0" indent="0">
              <a:buNone/>
            </a:pPr>
            <a:r>
              <a:rPr lang="en-US" dirty="0"/>
              <a:t>-future plan for </a:t>
            </a:r>
            <a:r>
              <a:rPr lang="en-US" dirty="0" err="1"/>
              <a:t>oPearls</a:t>
            </a:r>
            <a:r>
              <a:rPr lang="en-US" dirty="0"/>
              <a:t> Floral &amp; Events</a:t>
            </a:r>
            <a:endParaRPr lang="en-ZA" dirty="0"/>
          </a:p>
        </p:txBody>
      </p:sp>
    </p:spTree>
    <p:extLst>
      <p:ext uri="{BB962C8B-B14F-4D97-AF65-F5344CB8AC3E}">
        <p14:creationId xmlns:p14="http://schemas.microsoft.com/office/powerpoint/2010/main" val="330518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9A4DCE-6B75-944D-830D-A411963B7A89}"/>
              </a:ext>
            </a:extLst>
          </p:cNvPr>
          <p:cNvSpPr>
            <a:spLocks noGrp="1"/>
          </p:cNvSpPr>
          <p:nvPr>
            <p:ph idx="1"/>
          </p:nvPr>
        </p:nvSpPr>
        <p:spPr>
          <a:xfrm>
            <a:off x="838200" y="567559"/>
            <a:ext cx="10515600" cy="5609404"/>
          </a:xfrm>
        </p:spPr>
        <p:txBody>
          <a:bodyPr/>
          <a:lstStyle/>
          <a:p>
            <a:pPr marL="0" indent="0">
              <a:buNone/>
            </a:pPr>
            <a:r>
              <a:rPr lang="en-US" b="1" dirty="0"/>
              <a:t>Not applied:</a:t>
            </a:r>
          </a:p>
          <a:p>
            <a:pPr marL="0" indent="0">
              <a:buNone/>
            </a:pPr>
            <a:r>
              <a:rPr lang="en-ZA" dirty="0"/>
              <a:t>-possibility of stock runout when needed</a:t>
            </a:r>
          </a:p>
          <a:p>
            <a:pPr marL="0" indent="0">
              <a:buNone/>
            </a:pPr>
            <a:r>
              <a:rPr lang="en-ZA" dirty="0"/>
              <a:t>-more expenditure overtime then with applying</a:t>
            </a:r>
          </a:p>
          <a:p>
            <a:pPr marL="0" indent="0">
              <a:buNone/>
            </a:pPr>
            <a:r>
              <a:rPr lang="en-ZA" dirty="0"/>
              <a:t>-increase of price = less customers</a:t>
            </a:r>
          </a:p>
          <a:p>
            <a:pPr marL="0" indent="0">
              <a:buNone/>
            </a:pPr>
            <a:endParaRPr lang="en-ZA" dirty="0"/>
          </a:p>
          <a:p>
            <a:pPr marL="0" indent="0">
              <a:buNone/>
            </a:pPr>
            <a:r>
              <a:rPr lang="en-ZA" i="1" dirty="0"/>
              <a:t>Recommendation:</a:t>
            </a:r>
          </a:p>
          <a:p>
            <a:pPr marL="0" indent="0">
              <a:buNone/>
            </a:pPr>
            <a:r>
              <a:rPr lang="en-ZA" dirty="0"/>
              <a:t>-use idea 2 as a way for people to </a:t>
            </a:r>
            <a:r>
              <a:rPr lang="en-ZA" dirty="0" err="1"/>
              <a:t>maneuver</a:t>
            </a:r>
            <a:r>
              <a:rPr lang="en-ZA" dirty="0"/>
              <a:t> prices by applying discounts for them (13%). To be able to tell if it’s truly their birthday or not, use their ID’s</a:t>
            </a:r>
          </a:p>
        </p:txBody>
      </p:sp>
    </p:spTree>
    <p:extLst>
      <p:ext uri="{BB962C8B-B14F-4D97-AF65-F5344CB8AC3E}">
        <p14:creationId xmlns:p14="http://schemas.microsoft.com/office/powerpoint/2010/main" val="361827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93F32C-C343-28E8-4055-B56528A597A5}"/>
              </a:ext>
            </a:extLst>
          </p:cNvPr>
          <p:cNvSpPr>
            <a:spLocks noGrp="1"/>
          </p:cNvSpPr>
          <p:nvPr>
            <p:ph idx="1"/>
          </p:nvPr>
        </p:nvSpPr>
        <p:spPr>
          <a:xfrm>
            <a:off x="838200" y="1751462"/>
            <a:ext cx="8915400" cy="3777622"/>
          </a:xfrm>
        </p:spPr>
        <p:txBody>
          <a:bodyPr/>
          <a:lstStyle/>
          <a:p>
            <a:pPr marL="0" indent="0">
              <a:buNone/>
            </a:pPr>
            <a:r>
              <a:rPr lang="en-US" b="1" dirty="0"/>
              <a:t>Example above:</a:t>
            </a:r>
          </a:p>
          <a:p>
            <a:pPr marL="0" indent="0">
              <a:buNone/>
            </a:pPr>
            <a:r>
              <a:rPr lang="en-US" dirty="0" err="1"/>
              <a:t>oPearls</a:t>
            </a:r>
            <a:r>
              <a:rPr lang="en-US" dirty="0"/>
              <a:t> sells 20 Q’s of Red Roses of which are R800 in total. If </a:t>
            </a:r>
            <a:r>
              <a:rPr lang="en-US" dirty="0" err="1"/>
              <a:t>oPearls</a:t>
            </a:r>
            <a:r>
              <a:rPr lang="en-US" dirty="0"/>
              <a:t> were to involve 2 whole bottles of </a:t>
            </a:r>
            <a:r>
              <a:rPr lang="en-US" dirty="0" err="1"/>
              <a:t>CleaPatra’s</a:t>
            </a:r>
            <a:r>
              <a:rPr lang="en-US" dirty="0"/>
              <a:t> fragrance named ‘My Way’, the total would be R400, of which 1 bottle last up to 3 weeks. </a:t>
            </a:r>
          </a:p>
        </p:txBody>
      </p:sp>
      <p:pic>
        <p:nvPicPr>
          <p:cNvPr id="7" name="Picture 6">
            <a:extLst>
              <a:ext uri="{FF2B5EF4-FFF2-40B4-BE49-F238E27FC236}">
                <a16:creationId xmlns:a16="http://schemas.microsoft.com/office/drawing/2014/main" id="{E2D0C071-D0DE-4DC9-AF45-0A671310F286}"/>
              </a:ext>
            </a:extLst>
          </p:cNvPr>
          <p:cNvPicPr>
            <a:picLocks noChangeAspect="1"/>
          </p:cNvPicPr>
          <p:nvPr/>
        </p:nvPicPr>
        <p:blipFill>
          <a:blip r:embed="rId2"/>
          <a:stretch>
            <a:fillRect/>
          </a:stretch>
        </p:blipFill>
        <p:spPr>
          <a:xfrm>
            <a:off x="838200" y="365125"/>
            <a:ext cx="10515600" cy="1242556"/>
          </a:xfrm>
          <a:prstGeom prst="rect">
            <a:avLst/>
          </a:prstGeom>
        </p:spPr>
      </p:pic>
    </p:spTree>
    <p:extLst>
      <p:ext uri="{BB962C8B-B14F-4D97-AF65-F5344CB8AC3E}">
        <p14:creationId xmlns:p14="http://schemas.microsoft.com/office/powerpoint/2010/main" val="550412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F4DF9-6328-AA8C-3EBB-C328C47B7EFF}"/>
              </a:ext>
            </a:extLst>
          </p:cNvPr>
          <p:cNvSpPr>
            <a:spLocks noGrp="1"/>
          </p:cNvSpPr>
          <p:nvPr>
            <p:ph type="title"/>
          </p:nvPr>
        </p:nvSpPr>
        <p:spPr>
          <a:xfrm>
            <a:off x="838201" y="259307"/>
            <a:ext cx="10666412" cy="1431382"/>
          </a:xfrm>
        </p:spPr>
        <p:txBody>
          <a:bodyPr/>
          <a:lstStyle/>
          <a:p>
            <a:endParaRPr lang="en-ZA" dirty="0"/>
          </a:p>
        </p:txBody>
      </p:sp>
      <p:sp>
        <p:nvSpPr>
          <p:cNvPr id="3" name="Content Placeholder 2">
            <a:extLst>
              <a:ext uri="{FF2B5EF4-FFF2-40B4-BE49-F238E27FC236}">
                <a16:creationId xmlns:a16="http://schemas.microsoft.com/office/drawing/2014/main" id="{64A88981-F63A-B5A2-46B5-16140BC0A852}"/>
              </a:ext>
            </a:extLst>
          </p:cNvPr>
          <p:cNvSpPr>
            <a:spLocks noGrp="1"/>
          </p:cNvSpPr>
          <p:nvPr>
            <p:ph idx="1"/>
          </p:nvPr>
        </p:nvSpPr>
        <p:spPr>
          <a:xfrm>
            <a:off x="838200" y="1796506"/>
            <a:ext cx="10515600" cy="4380457"/>
          </a:xfrm>
        </p:spPr>
        <p:txBody>
          <a:bodyPr/>
          <a:lstStyle/>
          <a:p>
            <a:pPr marL="0" indent="0">
              <a:buNone/>
            </a:pPr>
            <a:r>
              <a:rPr lang="en-US" b="1" dirty="0"/>
              <a:t>Example above:</a:t>
            </a:r>
          </a:p>
          <a:p>
            <a:pPr marL="0" indent="0">
              <a:buNone/>
            </a:pPr>
            <a:r>
              <a:rPr lang="en-US" dirty="0"/>
              <a:t>-total of how much </a:t>
            </a:r>
            <a:r>
              <a:rPr lang="en-US" dirty="0" err="1"/>
              <a:t>oPearls</a:t>
            </a:r>
            <a:r>
              <a:rPr lang="en-US" dirty="0"/>
              <a:t> would have to restock for each product with their quantity</a:t>
            </a:r>
          </a:p>
          <a:p>
            <a:pPr marL="0" indent="0">
              <a:buNone/>
            </a:pPr>
            <a:r>
              <a:rPr lang="en-US" dirty="0"/>
              <a:t>-whole product is having to take the whole sale price of the fragrance, multiplying it by 2 since you’ll be selling the fragrance as your own joining it to be a package and then adding it to the price of the flowers, which would result to the total price of the whole package. But prices are decreased due to the discount (13%)</a:t>
            </a:r>
            <a:endParaRPr lang="en-ZA" dirty="0"/>
          </a:p>
        </p:txBody>
      </p:sp>
      <p:pic>
        <p:nvPicPr>
          <p:cNvPr id="5" name="Picture 4">
            <a:extLst>
              <a:ext uri="{FF2B5EF4-FFF2-40B4-BE49-F238E27FC236}">
                <a16:creationId xmlns:a16="http://schemas.microsoft.com/office/drawing/2014/main" id="{52F0A203-1602-375E-459F-F318A72A5233}"/>
              </a:ext>
            </a:extLst>
          </p:cNvPr>
          <p:cNvPicPr>
            <a:picLocks noChangeAspect="1"/>
          </p:cNvPicPr>
          <p:nvPr/>
        </p:nvPicPr>
        <p:blipFill>
          <a:blip r:embed="rId2"/>
          <a:stretch>
            <a:fillRect/>
          </a:stretch>
        </p:blipFill>
        <p:spPr>
          <a:xfrm>
            <a:off x="838200" y="259307"/>
            <a:ext cx="10515600" cy="1431381"/>
          </a:xfrm>
          <a:prstGeom prst="rect">
            <a:avLst/>
          </a:prstGeom>
        </p:spPr>
      </p:pic>
    </p:spTree>
    <p:extLst>
      <p:ext uri="{BB962C8B-B14F-4D97-AF65-F5344CB8AC3E}">
        <p14:creationId xmlns:p14="http://schemas.microsoft.com/office/powerpoint/2010/main" val="270305121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330</TotalTime>
  <Words>412</Words>
  <Application>Microsoft Office PowerPoint</Application>
  <PresentationFormat>Widescreen</PresentationFormat>
  <Paragraphs>36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Garamond</vt:lpstr>
      <vt:lpstr>Tw Cen MT</vt:lpstr>
      <vt:lpstr>Droplet</vt:lpstr>
      <vt:lpstr>oPearls Floral and Events x Cleopatra</vt:lpstr>
      <vt:lpstr>PowerPoint Presentation</vt:lpstr>
      <vt:lpstr>PowerPoint Presentation</vt:lpstr>
      <vt:lpstr>PowerPoint Presentation</vt:lpstr>
      <vt:lpstr>Applied &amp; Not applied</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mjbestylinnit@gmail.com</dc:creator>
  <cp:lastModifiedBy>mjbestylinnit@gmail.com</cp:lastModifiedBy>
  <cp:revision>2</cp:revision>
  <dcterms:created xsi:type="dcterms:W3CDTF">2026-03-06T15:51:06Z</dcterms:created>
  <dcterms:modified xsi:type="dcterms:W3CDTF">2026-03-06T21:34:33Z</dcterms:modified>
</cp:coreProperties>
</file>